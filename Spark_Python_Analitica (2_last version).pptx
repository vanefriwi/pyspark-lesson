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1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Promedio</c:v>
                </c:pt>
              </c:strCache>
            </c:strRef>
          </c:tx>
          <c:spPr>
            <a:solidFill>
              <a:srgbClr val="E8622C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C2331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Inglés</c:v>
                  </c:pt>
                  <c:pt idx="1">
                    <c:v>Bases de Datos</c:v>
                  </c:pt>
                  <c:pt idx="2">
                    <c:v>Programación</c:v>
                  </c:pt>
                  <c:pt idx="3">
                    <c:v>Estadística</c:v>
                  </c:pt>
                  <c:pt idx="4">
                    <c:v>Cálculo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4.25</c:v>
                </c:pt>
                <c:pt idx="1">
                  <c:v>3.93</c:v>
                </c:pt>
                <c:pt idx="2">
                  <c:v>3.79</c:v>
                </c:pt>
                <c:pt idx="3">
                  <c:v>3.4</c:v>
                </c:pt>
                <c:pt idx="4">
                  <c:v>2.96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1C2331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0"/>
        </c:scaling>
        <c:delete val="0"/>
        <c:axPos val="l"/>
        <c:majorGridlines>
          <c:spPr>
            <a:ln w="12700" cap="flat">
              <a:solidFill>
                <a:srgbClr val="EAEC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Presentarme y anunciar el recorrido: de dónde vienen los datos, cómo los procesa Spark, pandas vs Spark y un ejemplo en vivo.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Gancho de la clase. Dejar claro que el límite de pandas es la RAM de un solo computador.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Antes de procesar hay que mover. Nombrar los tres conceptos de abajo, sin profundizar.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Definición en una frase. Los cuatro puntos son las razones por las que la industria lo adoptó.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es la duda número uno de quien nunca ha usado Spark. Dejar clarísimo que es una sola instalación.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Dibujar esta idea con las manos: uno reparte, varios ejecutan. Aclarar que el driver NO procesa los datos.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Analogía: pandas cocina cada ingrediente apenas lo saca de la nevera; Spark lee toda la receta primero y luego cocina en el orden más eficiente.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Mencionar que también existe spark.sql('SELECT ...') y que se optimiza exactamente igual.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pregunta clásica es '¿cuál es mejor?'. Respuesta: pandas para explorar, Spark para producir.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Recalcar que .toPandas() es el último paso del proceso, nunca el primero.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Estas son las cosas que uno solo aprende sufriendo. Mencionarlas da mucha credibilidad en la exposición.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Aquí es donde se responde '¿esto para qué me sirve en la vida real?'. La misma línea de código escala.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Cambiar a Colab aquí. Tener el notebook ya abierto y la celda del pip install ya ejecutada.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paso 3 es el importante: los grupos se comportan distinto, entonces se imputa por grupo. Window.partitionBy agrupa SIN colapsar las filas.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truco del porcentaje: el promedio de unos y ceros ES la proporción. Por 100 da el porcentaje de aprobación.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que la versión SQL pasa por el mismo optimizador y rinde igual que la de DataFrames.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Diapositiva de referencia. No leerla entera: señalar dos o tres conceptos y seguir.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es la diapositiva que la gente va a fotografiar. Dejarla en pantalla unos segundos.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recapitulando y abrir preguntas. Tener listas: qué es un shuffle, qué es un RDD, por qué es rápido si Python es lento.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3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280160"/>
            <a:ext cx="4206240" cy="4206240"/>
          </a:xfrm>
          <a:prstGeom prst="ellipse">
            <a:avLst/>
          </a:prstGeom>
          <a:solidFill>
            <a:srgbClr val="E8622C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743200" cy="2743200"/>
          </a:xfrm>
          <a:prstGeom prst="ellipse">
            <a:avLst/>
          </a:prstGeom>
          <a:solidFill>
            <a:srgbClr val="F2A65A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2880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SPARK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286000"/>
            <a:ext cx="85953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Procesar datos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cuando ya no caben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una sola máquina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480060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con Python (PySpark) · enfoque de analítica de datos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553212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Vanessa Fontalvo Puertadeoro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6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23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día que pandas deja de servir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120640" cy="3566160"/>
          </a:xfrm>
          <a:prstGeom prst="roundRect">
            <a:avLst>
              <a:gd name="adj" fmla="val 2564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659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28600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C23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 MB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914400" y="3337560"/>
            <a:ext cx="4389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Abro el CSV con pandas.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cabe en la memoria RAM.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perfecto.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46177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Sin problema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35040" y="1691640"/>
            <a:ext cx="5577840" cy="3566160"/>
          </a:xfrm>
          <a:prstGeom prst="roundRect">
            <a:avLst>
              <a:gd name="adj" fmla="val 2564"/>
            </a:avLst>
          </a:prstGeom>
          <a:solidFill>
            <a:srgbClr val="1C2331"/>
          </a:solidFill>
          <a:ln w="12700">
            <a:solidFill>
              <a:srgbClr val="1C233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9659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0" y="228600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 GB</a:t>
            </a:r>
            <a:endParaRPr lang="en-US" sz="6000" dirty="0"/>
          </a:p>
        </p:txBody>
      </p:sp>
      <p:sp>
        <p:nvSpPr>
          <p:cNvPr id="12" name="Text 10"/>
          <p:cNvSpPr/>
          <p:nvPr/>
        </p:nvSpPr>
        <p:spPr>
          <a:xfrm>
            <a:off x="6400800" y="333756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Llega el histórico completo.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cabe en la RAM de mi portátil.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proceso se cae.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0" y="46177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6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Necesito otra estrategia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E86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no hace que una máquina sea más rápida: reparte el trabajo entre muchas.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6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DATOS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23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¿De dónde vienen los datos y cómo se mueven?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048256" cy="2286000"/>
          </a:xfrm>
          <a:prstGeom prst="roundRect">
            <a:avLst>
              <a:gd name="adj" fmla="val 4464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2148840"/>
            <a:ext cx="1773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58368" y="269748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Bases de datos,</a:t>
            </a:r>
            <a:endParaRPr lang="en-US" sz="13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APIs, archivos,</a:t>
            </a:r>
            <a:endParaRPr lang="en-US" sz="13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596896" y="2651760"/>
            <a:ext cx="265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6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862072" y="1828800"/>
            <a:ext cx="2048256" cy="2286000"/>
          </a:xfrm>
          <a:prstGeom prst="roundRect">
            <a:avLst>
              <a:gd name="adj" fmla="val 4464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99232" y="2148840"/>
            <a:ext cx="1773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Ingesta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2971800" y="269748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extraen y se</a:t>
            </a:r>
            <a:endParaRPr lang="en-US" sz="13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copian hacia el</a:t>
            </a:r>
            <a:endParaRPr lang="en-US" sz="13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almacén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10328" y="2651760"/>
            <a:ext cx="265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6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5175504" y="1828800"/>
            <a:ext cx="2048256" cy="2286000"/>
          </a:xfrm>
          <a:prstGeom prst="roundRect">
            <a:avLst>
              <a:gd name="adj" fmla="val 4464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12664" y="2148840"/>
            <a:ext cx="1773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Lake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285232" y="269748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guardan</a:t>
            </a:r>
            <a:endParaRPr lang="en-US" sz="13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crudos</a:t>
            </a:r>
            <a:endParaRPr lang="en-US" sz="13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(Parquet)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223760" y="2651760"/>
            <a:ext cx="265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6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7488936" y="1828800"/>
            <a:ext cx="2048256" cy="2286000"/>
          </a:xfrm>
          <a:prstGeom prst="roundRect">
            <a:avLst>
              <a:gd name="adj" fmla="val 4464"/>
            </a:avLst>
          </a:prstGeom>
          <a:solidFill>
            <a:srgbClr val="E8622C"/>
          </a:solidFill>
          <a:ln w="12700">
            <a:solidFill>
              <a:srgbClr val="E8622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26096" y="2148840"/>
            <a:ext cx="1773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598664" y="269748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E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Limpia,</a:t>
            </a:r>
            <a:endParaRPr lang="en-US" sz="13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E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</a:t>
            </a:r>
            <a:endParaRPr lang="en-US" sz="13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E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agrega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537192" y="2651760"/>
            <a:ext cx="265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6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20" name="Shape 18"/>
          <p:cNvSpPr/>
          <p:nvPr/>
        </p:nvSpPr>
        <p:spPr>
          <a:xfrm>
            <a:off x="9802368" y="1828800"/>
            <a:ext cx="2048256" cy="2286000"/>
          </a:xfrm>
          <a:prstGeom prst="roundRect">
            <a:avLst>
              <a:gd name="adj" fmla="val 4464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939528" y="2148840"/>
            <a:ext cx="1773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Consumo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9912096" y="269748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Dashboards,</a:t>
            </a:r>
            <a:endParaRPr lang="en-US" sz="13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reportes,</a:t>
            </a:r>
            <a:endParaRPr lang="en-US" sz="13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ML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44348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C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vive en la etapa de procesamiento: es el motor que transforma el dato crudo en información útil.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8640" y="502920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6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vs ELT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48640" y="534924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transforma antes de guardar. ELT guarda crudo y transforma después: es lo que se usa hoy.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279392" y="502920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6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/ Silver / Gold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279392" y="534924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Crudo → limpio y validado → agregado y listo para el negocio.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010144" y="502920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6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Orquestación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010144" y="534924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decide CUÁNDO corre el proceso. Spark decide CÓMO se procesa.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6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23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Entonces, ¿qué es Spark exactamente?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87452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C23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motor que divide un trabajo grande de datos en pedazos pequeños y los ejecuta al mismo tiempo en varios computadores.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3172968"/>
            <a:ext cx="457200" cy="457200"/>
          </a:xfrm>
          <a:prstGeom prst="ellipse">
            <a:avLst/>
          </a:prstGeom>
          <a:solidFill>
            <a:srgbClr val="E8622C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3172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07008" y="30632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Distribuido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207008" y="3447288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trabajo se reparte entre varias máquinas (o varios núcleos de la tuya).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09360" y="3172968"/>
            <a:ext cx="457200" cy="457200"/>
          </a:xfrm>
          <a:prstGeom prst="ellipse">
            <a:avLst/>
          </a:prstGeom>
          <a:solidFill>
            <a:srgbClr val="E8622C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172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967728" y="30632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memoria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967728" y="3447288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 en RAM en lugar de escribir a disco en cada paso: por eso es rápido.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773168"/>
            <a:ext cx="457200" cy="457200"/>
          </a:xfrm>
          <a:prstGeom prst="ellipse">
            <a:avLst/>
          </a:prstGeom>
          <a:solidFill>
            <a:srgbClr val="E8622C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773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07008" y="46634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motor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1207008" y="5047488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SQL, streaming y machine learning con la misma herramienta.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309360" y="4773168"/>
            <a:ext cx="457200" cy="457200"/>
          </a:xfrm>
          <a:prstGeom prst="ellipse">
            <a:avLst/>
          </a:prstGeom>
          <a:solidFill>
            <a:srgbClr val="E8622C"/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0" y="4773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967728" y="46634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Multi-lenguaje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6967728" y="5047488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SQL, Scala o Java. Nosotras usamos PySpark.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6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USARLO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23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Spark, PySpark y Java: ¿qué se descarga?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474720" cy="2377440"/>
          </a:xfrm>
          <a:prstGeom prst="roundRect">
            <a:avLst>
              <a:gd name="adj" fmla="val 3846"/>
            </a:avLst>
          </a:prstGeom>
          <a:solidFill>
            <a:srgbClr val="1C2331"/>
          </a:solidFill>
          <a:ln w="12700">
            <a:solidFill>
              <a:srgbClr val="1C233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659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MOTOR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226771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Apache Spark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2761488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Escrito en Scala, corre sobre Java. Es el que hace el trabajo pesado de repartir y procesar.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79392" y="1737360"/>
            <a:ext cx="3474720" cy="2377440"/>
          </a:xfrm>
          <a:prstGeom prst="roundRect">
            <a:avLst>
              <a:gd name="adj" fmla="val 3846"/>
            </a:avLst>
          </a:prstGeom>
          <a:solidFill>
            <a:srgbClr val="1C2331"/>
          </a:solidFill>
          <a:ln w="12700">
            <a:solidFill>
              <a:srgbClr val="1C233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53712" y="19659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CONTROL REMOTO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53712" y="226771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PySpark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53712" y="2761488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librería de Python que le da órdenes al motor. Es lo que tú escribes.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10144" y="1737360"/>
            <a:ext cx="3474720" cy="2377440"/>
          </a:xfrm>
          <a:prstGeom prst="roundRect">
            <a:avLst>
              <a:gd name="adj" fmla="val 3846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84464" y="19659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BASE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84464" y="226771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23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284464" y="2761488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motor necesita Java para correr. Es lo único que se instala aparte.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389120"/>
            <a:ext cx="11064240" cy="1737360"/>
          </a:xfrm>
          <a:prstGeom prst="roundRect">
            <a:avLst>
              <a:gd name="adj" fmla="val 5263"/>
            </a:avLst>
          </a:prstGeom>
          <a:solidFill>
            <a:srgbClr val="FDF0E8"/>
          </a:solidFill>
          <a:ln w="12700">
            <a:solidFill>
              <a:srgbClr val="FDF0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57200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6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 pyspark descarga los DOS primeros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68680" y="498348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C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paquete trae el motor completo empaquetado adentro (~300 MB, por eso se demora). No hay que ir a la página de Apache ni descomprimir nada. Solo Java se instala por separado, y en Google Colab ya viene puesto.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955280" y="4956048"/>
            <a:ext cx="3383280" cy="868680"/>
          </a:xfrm>
          <a:prstGeom prst="roundRect">
            <a:avLst>
              <a:gd name="adj" fmla="val 8421"/>
            </a:avLst>
          </a:prstGeom>
          <a:solidFill>
            <a:srgbClr val="222A38"/>
          </a:solidFill>
          <a:ln w="12700">
            <a:solidFill>
              <a:srgbClr val="222A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19872" y="5065776"/>
            <a:ext cx="3054096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pyspark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 -version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6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PROCESA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23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¿Quién manda y quién trabaja?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794760" y="1737360"/>
            <a:ext cx="4572000" cy="1051560"/>
          </a:xfrm>
          <a:prstGeom prst="roundRect">
            <a:avLst>
              <a:gd name="adj" fmla="val 8696"/>
            </a:avLst>
          </a:prstGeom>
          <a:solidFill>
            <a:srgbClr val="1C2331"/>
          </a:solidFill>
          <a:ln w="12700">
            <a:solidFill>
              <a:srgbClr val="1C233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977640" y="18745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977640" y="221284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6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script de Python. Arma el plan y reparte tareas.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080760" y="2788920"/>
            <a:ext cx="0" cy="502920"/>
          </a:xfrm>
          <a:prstGeom prst="line">
            <a:avLst/>
          </a:prstGeom>
          <a:noFill/>
          <a:ln w="25400">
            <a:solidFill>
              <a:srgbClr val="E8622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74520" y="3291840"/>
            <a:ext cx="7498080" cy="0"/>
          </a:xfrm>
          <a:prstGeom prst="line">
            <a:avLst/>
          </a:prstGeom>
          <a:noFill/>
          <a:ln w="25400">
            <a:solidFill>
              <a:srgbClr val="E8622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74520" y="3291840"/>
            <a:ext cx="0" cy="365760"/>
          </a:xfrm>
          <a:prstGeom prst="line">
            <a:avLst/>
          </a:prstGeom>
          <a:noFill/>
          <a:ln w="25400">
            <a:solidFill>
              <a:srgbClr val="E8622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88720" y="3657600"/>
            <a:ext cx="2834640" cy="1691640"/>
          </a:xfrm>
          <a:prstGeom prst="roundRect">
            <a:avLst>
              <a:gd name="adj" fmla="val 5405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25880" y="37947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 1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554480" y="4224528"/>
            <a:ext cx="960120" cy="548640"/>
          </a:xfrm>
          <a:prstGeom prst="roundRect">
            <a:avLst>
              <a:gd name="adj" fmla="val 10000"/>
            </a:avLst>
          </a:prstGeom>
          <a:solidFill>
            <a:srgbClr val="E8622C"/>
          </a:solidFill>
          <a:ln w="12700">
            <a:solidFill>
              <a:srgbClr val="E8622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54480" y="4224528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697480" y="4224528"/>
            <a:ext cx="960120" cy="548640"/>
          </a:xfrm>
          <a:prstGeom prst="roundRect">
            <a:avLst>
              <a:gd name="adj" fmla="val 10000"/>
            </a:avLst>
          </a:prstGeom>
          <a:solidFill>
            <a:srgbClr val="E8622C"/>
          </a:solidFill>
          <a:ln w="12700">
            <a:solidFill>
              <a:srgbClr val="E8622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97480" y="4224528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80160" y="486460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 sus particiones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623560" y="3291840"/>
            <a:ext cx="0" cy="365760"/>
          </a:xfrm>
          <a:prstGeom prst="line">
            <a:avLst/>
          </a:prstGeom>
          <a:noFill/>
          <a:ln w="25400">
            <a:solidFill>
              <a:srgbClr val="E8622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937760" y="3657600"/>
            <a:ext cx="2834640" cy="1691640"/>
          </a:xfrm>
          <a:prstGeom prst="roundRect">
            <a:avLst>
              <a:gd name="adj" fmla="val 5405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74920" y="37947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 2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303520" y="4224528"/>
            <a:ext cx="960120" cy="548640"/>
          </a:xfrm>
          <a:prstGeom prst="roundRect">
            <a:avLst>
              <a:gd name="adj" fmla="val 10000"/>
            </a:avLst>
          </a:prstGeom>
          <a:solidFill>
            <a:srgbClr val="E8622C"/>
          </a:solidFill>
          <a:ln w="12700">
            <a:solidFill>
              <a:srgbClr val="E8622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0" y="4224528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46520" y="4224528"/>
            <a:ext cx="960120" cy="548640"/>
          </a:xfrm>
          <a:prstGeom prst="roundRect">
            <a:avLst>
              <a:gd name="adj" fmla="val 10000"/>
            </a:avLst>
          </a:prstGeom>
          <a:solidFill>
            <a:srgbClr val="E8622C"/>
          </a:solidFill>
          <a:ln w="12700">
            <a:solidFill>
              <a:srgbClr val="E8622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46520" y="4224528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29200" y="486460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 sus particiones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372600" y="3291840"/>
            <a:ext cx="0" cy="365760"/>
          </a:xfrm>
          <a:prstGeom prst="line">
            <a:avLst/>
          </a:prstGeom>
          <a:noFill/>
          <a:ln w="25400">
            <a:solidFill>
              <a:srgbClr val="E8622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686800" y="3657600"/>
            <a:ext cx="2834640" cy="1691640"/>
          </a:xfrm>
          <a:prstGeom prst="roundRect">
            <a:avLst>
              <a:gd name="adj" fmla="val 5405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823960" y="37947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 3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9052560" y="4224528"/>
            <a:ext cx="960120" cy="548640"/>
          </a:xfrm>
          <a:prstGeom prst="roundRect">
            <a:avLst>
              <a:gd name="adj" fmla="val 10000"/>
            </a:avLst>
          </a:prstGeom>
          <a:solidFill>
            <a:srgbClr val="E8622C"/>
          </a:solidFill>
          <a:ln w="12700">
            <a:solidFill>
              <a:srgbClr val="E8622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052560" y="4224528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10195560" y="4224528"/>
            <a:ext cx="960120" cy="548640"/>
          </a:xfrm>
          <a:prstGeom prst="roundRect">
            <a:avLst>
              <a:gd name="adj" fmla="val 10000"/>
            </a:avLst>
          </a:prstGeom>
          <a:solidFill>
            <a:srgbClr val="E8622C"/>
          </a:solidFill>
          <a:ln w="12700">
            <a:solidFill>
              <a:srgbClr val="E8622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195560" y="4224528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778240" y="486460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 sus particiones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48640" y="56235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1C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archivo grande se corta en particiones (P1, P2, P3…) y cada executor procesa las suyas al mismo tiempo. Esa es toda la magia.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6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PROCESA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23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Spark no ejecuta nada hasta que se lo pides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3017520"/>
          </a:xfrm>
          <a:prstGeom prst="roundRect">
            <a:avLst>
              <a:gd name="adj" fmla="val 3030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9659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TRANSFORMACIONES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22860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23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ejecutan nada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68680" y="288036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C23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· filter · withColumn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C23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groupBy · join · orderBy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70332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van anotando pasos en un plan.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17920" y="1737360"/>
            <a:ext cx="5394960" cy="3017520"/>
          </a:xfrm>
          <a:prstGeom prst="roundRect">
            <a:avLst>
              <a:gd name="adj" fmla="val 3030"/>
            </a:avLst>
          </a:prstGeom>
          <a:solidFill>
            <a:srgbClr val="1C2331"/>
          </a:solidFill>
          <a:ln w="12700">
            <a:solidFill>
              <a:srgbClr val="1C233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0" y="19659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ACCIONES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37960" y="22860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Disparan la ejecución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537960" y="288036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D9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 · count · collect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D9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 · toPandas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37960" y="370332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Aquí recién se leen y procesan los datos.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5029200"/>
            <a:ext cx="11064240" cy="1188720"/>
          </a:xfrm>
          <a:prstGeom prst="roundRect">
            <a:avLst>
              <a:gd name="adj" fmla="val 7692"/>
            </a:avLst>
          </a:prstGeom>
          <a:solidFill>
            <a:srgbClr val="FDF0E8"/>
          </a:solidFill>
          <a:ln w="12700">
            <a:solidFill>
              <a:srgbClr val="FDF0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519379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6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¿Y para qué sirve esperar?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68680" y="5532120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C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Spark ve el plan completo antes de ejecutarlo, su optimizador (Catalyst) lo reordena: si al final solo pides 2 columnas, nunca lee las otras 30 del disco.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6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23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se llaman y se transforman los datos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estructura principal es el DataFrame: una tabla repartida entre varias máquinas, con nombre y tipo en cada columna. Se maneja como SQL.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340864"/>
            <a:ext cx="11064240" cy="530352"/>
          </a:xfrm>
          <a:prstGeom prst="rect">
            <a:avLst/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395728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3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df.select("ciudad", "total")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040880" y="239572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Elegir columnas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962656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3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df.filter(F.col("total") &gt; 1000)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040880" y="2962656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Filtrar filas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474720"/>
            <a:ext cx="11064240" cy="530352"/>
          </a:xfrm>
          <a:prstGeom prst="rect">
            <a:avLst/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52958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3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df.withColumn("iva", F.col("total") * 0.19)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040880" y="3529584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una columna nueva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4096512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3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df.groupBy("ciudad").agg(F.sum("total"))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040880" y="4096512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Agrupar y resumir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4608576"/>
            <a:ext cx="11064240" cy="530352"/>
          </a:xfrm>
          <a:prstGeom prst="rect">
            <a:avLst/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466344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3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df.join(tiendas, on="id_tienda")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040880" y="466344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Unir dos tablas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5230368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3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df.orderBy(F.desc("total"))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040880" y="523036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Ordenar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5870448"/>
            <a:ext cx="11064240" cy="566928"/>
          </a:xfrm>
          <a:prstGeom prst="roundRect">
            <a:avLst>
              <a:gd name="adj" fmla="val 16129"/>
            </a:avLst>
          </a:prstGeom>
          <a:solidFill>
            <a:srgbClr val="FDF0E8"/>
          </a:solidFill>
          <a:ln w="12700">
            <a:solidFill>
              <a:srgbClr val="FDF0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5961888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6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DataFrames son inmutables: cada transformación devuelve uno nuevo, nunca modifica el anterior.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6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23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pandas vs Spark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343400"/>
                <a:gridCol w="43434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pandas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64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Spark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622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C23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Escala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 que quepa en la RAM de 1 PC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Terabytes en varias máquinas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C23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Ejecución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Inmediata, línea por línea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Perezosa y optimizada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C23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Paralelismo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núcleo por defecto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Distribuido por diseño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C23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Mutabilidad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DataFrame se modifica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Inmutable: siempre uno nuevo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C23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Índice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 (df.loc)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existe índice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C23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Ideal para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Explorar y prototipar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Producción con datos grandes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89204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1C2331"/>
          </a:solidFill>
          <a:ln w="12700">
            <a:solidFill>
              <a:srgbClr val="1C233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8680" y="507492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compiten: se complementan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68680" y="544068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6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procesa los 500 GB y devuelve un resumen de 2 MB. Ese resumen se pasa a pandas para graficarlo.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046720" y="55321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resumen.toPandas()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6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Y SPARK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23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Son dos APIs distintas, no una sola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2763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DataFrame de Spark no entiende los comandos de pandas, y viceversa. Hacen lo mismo, se escriben distinto.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12140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583680" y="212140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6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468880"/>
            <a:ext cx="11064240" cy="512064"/>
          </a:xfrm>
          <a:prstGeom prst="rect">
            <a:avLst/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514600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df[df.total &gt; 1000]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583680" y="2514600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3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df.filter(F.col("total") &gt; 1000)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14400" y="3063240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df.head()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583680" y="3063240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3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df.show(5)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566160"/>
            <a:ext cx="11064240" cy="512064"/>
          </a:xfrm>
          <a:prstGeom prst="rect">
            <a:avLst/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611880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df.groupby("ciudad").sum()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583680" y="3611880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3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df.groupBy("ciudad").agg(F.sum(...))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14400" y="4160520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df["c"] = df.a * 2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583680" y="4160520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3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df.withColumn("c", F.col("a") * 2)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89204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1C2331"/>
          </a:solidFill>
          <a:ln w="12700">
            <a:solidFill>
              <a:srgbClr val="1C233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507492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puente entre los dos mundos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68680" y="5422392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C6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no grafica. Traes el resultado ya agregado a pandas y ahí sí lo dibujas. Nunca sobre datos grandes: .toPandas() carga todo en la RAM de una sola máquina.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955280" y="5230368"/>
            <a:ext cx="3383280" cy="594360"/>
          </a:xfrm>
          <a:prstGeom prst="roundRect">
            <a:avLst>
              <a:gd name="adj" fmla="val 12308"/>
            </a:avLst>
          </a:prstGeom>
          <a:solidFill>
            <a:srgbClr val="222A38"/>
          </a:solidFill>
          <a:ln w="12700">
            <a:solidFill>
              <a:srgbClr val="222A3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19872" y="5340096"/>
            <a:ext cx="305409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resumen.toPandas()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6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LETRA PEQUEÑA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23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Cuatro cosas que casi nadie advierte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03520" cy="1874520"/>
          </a:xfrm>
          <a:prstGeom prst="roundRect">
            <a:avLst>
              <a:gd name="adj" fmla="val 4878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2057400"/>
            <a:ext cx="402336" cy="402336"/>
          </a:xfrm>
          <a:prstGeom prst="ellipse">
            <a:avLst/>
          </a:prstGeom>
          <a:solidFill>
            <a:srgbClr val="E8622C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2057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89888" y="2039112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C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datos pequeños, Spark es más lento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269748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Levantar la máquina virtual de Java tarda segundos siempre. Ese costo fijo solo se justifica con volumen. Regla: menos de ~5 GB, usa pandas.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09360" y="1783080"/>
            <a:ext cx="5303520" cy="1874520"/>
          </a:xfrm>
          <a:prstGeom prst="roundRect">
            <a:avLst>
              <a:gd name="adj" fmla="val 4878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01968" y="2057400"/>
            <a:ext cx="402336" cy="402336"/>
          </a:xfrm>
          <a:prstGeom prst="ellipse">
            <a:avLst/>
          </a:prstGeom>
          <a:solidFill>
            <a:srgbClr val="E8622C"/>
          </a:solidFill>
          <a:ln/>
        </p:spPr>
      </p:sp>
      <p:sp>
        <p:nvSpPr>
          <p:cNvPr id="11" name="Text 9"/>
          <p:cNvSpPr/>
          <p:nvPr/>
        </p:nvSpPr>
        <p:spPr>
          <a:xfrm>
            <a:off x="6601968" y="2057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150608" y="2039112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C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shuffle es lo que te va a doler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01968" y="269748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groupBy y join obligan a mover datos entre trabajadores. Es la operación más costosa y la causa nº 1 de que un proceso tarde 40 minutos.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931920"/>
            <a:ext cx="5303520" cy="1874520"/>
          </a:xfrm>
          <a:prstGeom prst="roundRect">
            <a:avLst>
              <a:gd name="adj" fmla="val 4878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1248" y="4206240"/>
            <a:ext cx="402336" cy="402336"/>
          </a:xfrm>
          <a:prstGeom prst="ellipse">
            <a:avLst/>
          </a:prstGeom>
          <a:solidFill>
            <a:srgbClr val="E8622C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" y="4206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89888" y="4187952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C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escribas funciones de Python fila por fila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1248" y="484632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UDFs obligan a que cada fila cruce de Java a Python y vuelva. Usa siempre las funciones de pyspark.sql.functions: corren dentro del motor.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09360" y="3931920"/>
            <a:ext cx="5303520" cy="1874520"/>
          </a:xfrm>
          <a:prstGeom prst="roundRect">
            <a:avLst>
              <a:gd name="adj" fmla="val 4878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01968" y="4206240"/>
            <a:ext cx="402336" cy="402336"/>
          </a:xfrm>
          <a:prstGeom prst="ellipse">
            <a:avLst/>
          </a:prstGeom>
          <a:solidFill>
            <a:srgbClr val="E8622C"/>
          </a:solidFill>
          <a:ln/>
        </p:spPr>
      </p:sp>
      <p:sp>
        <p:nvSpPr>
          <p:cNvPr id="21" name="Text 19"/>
          <p:cNvSpPr/>
          <p:nvPr/>
        </p:nvSpPr>
        <p:spPr>
          <a:xfrm>
            <a:off x="6601968" y="4206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150608" y="4187952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C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 un panel para espiar lo que hace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601968" y="484632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Mientras el proceso corre, localhost:4040 muestra el plan, los tiempos por etapa y las particiones. Es como se depura un job lento.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6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23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¿Y dónde lo pruebo?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474720" cy="3931920"/>
          </a:xfrm>
          <a:prstGeom prst="roundRect">
            <a:avLst>
              <a:gd name="adj" fmla="val 2632"/>
            </a:avLst>
          </a:prstGeom>
          <a:solidFill>
            <a:srgbClr val="1C2331"/>
          </a:solidFill>
          <a:ln w="12700">
            <a:solidFill>
              <a:srgbClr val="1C233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385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APRENDER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221284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Colab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822960" y="2697480"/>
            <a:ext cx="2926080" cy="713232"/>
          </a:xfrm>
          <a:prstGeom prst="roundRect">
            <a:avLst>
              <a:gd name="adj" fmla="val 10256"/>
            </a:avLst>
          </a:prstGeom>
          <a:solidFill>
            <a:srgbClr val="222A38"/>
          </a:solidFill>
          <a:ln w="12700">
            <a:solidFill>
              <a:srgbClr val="222A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2807208"/>
            <a:ext cx="25968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!pip install -q pyspark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3547872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6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ya viene instalado.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6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instalas nada local.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6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Listo en 2 minutos.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22960" y="48920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Contra: No puedes abrir el panel localhost:4040.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279392" y="1737360"/>
            <a:ext cx="3474720" cy="3931920"/>
          </a:xfrm>
          <a:prstGeom prst="roundRect">
            <a:avLst>
              <a:gd name="adj" fmla="val 2632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53712" y="19385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6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TRABAJAR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53712" y="221284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C23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 Code local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4553712" y="2697480"/>
            <a:ext cx="2926080" cy="713232"/>
          </a:xfrm>
          <a:prstGeom prst="roundRect">
            <a:avLst>
              <a:gd name="adj" fmla="val 10256"/>
            </a:avLst>
          </a:prstGeom>
          <a:solidFill>
            <a:srgbClr val="222A38"/>
          </a:solidFill>
          <a:ln w="12700">
            <a:solidFill>
              <a:srgbClr val="222A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18304" y="2807208"/>
            <a:ext cx="25968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brew install openjdk@17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pyspark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53712" y="3547872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 tienes el panel de monitoreo.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real con entorno virtual.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53712" y="48920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Contra: Hay que instalar Java a mano.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010144" y="1737360"/>
            <a:ext cx="3474720" cy="3931920"/>
          </a:xfrm>
          <a:prstGeom prst="roundRect">
            <a:avLst>
              <a:gd name="adj" fmla="val 2632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84464" y="19385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6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EN LA INDUSTRIA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84464" y="221284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C23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Databricks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8284464" y="2697480"/>
            <a:ext cx="2926080" cy="713232"/>
          </a:xfrm>
          <a:prstGeom prst="roundRect">
            <a:avLst>
              <a:gd name="adj" fmla="val 10256"/>
            </a:avLst>
          </a:prstGeom>
          <a:solidFill>
            <a:srgbClr val="222A38"/>
          </a:solidFill>
          <a:ln w="12700">
            <a:solidFill>
              <a:srgbClr val="222A3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49056" y="2807208"/>
            <a:ext cx="25968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spark ya existe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284464" y="3547872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Clúster real gratis en la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edición Community.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 siquiera creas la sesión.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284464" y="48920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Contra: Necesitas registrarte.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E86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código es idéntico en los tres. Lo único que cambia es una línea: .master("local[*]") en tu máquina, la dirección del clúster en producción.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C23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023360"/>
            <a:ext cx="3840480" cy="3840480"/>
          </a:xfrm>
          <a:prstGeom prst="ellipse">
            <a:avLst/>
          </a:prstGeom>
          <a:solidFill>
            <a:srgbClr val="E8622C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228600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PRÁCTICO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97280" y="2697480"/>
            <a:ext cx="9966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un CSV sucio a la</a:t>
            </a:r>
            <a:endParaRPr lang="en-US" sz="38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respuesta del negocio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097280" y="443484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5.180 notas de estudiantes con duplicados y notas faltantes.   Pregunta: ¿cuál es el promedio por curso y cuántos aprueban?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6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· PASOS 1 A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23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Abrir la sesión, leer y limpiar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402336" cy="402336"/>
          </a:xfrm>
          <a:prstGeom prst="ellipse">
            <a:avLst/>
          </a:prstGeom>
          <a:solidFill>
            <a:srgbClr val="E8622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37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17373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la SparkSession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5486400" cy="1143000"/>
          </a:xfrm>
          <a:prstGeom prst="roundRect">
            <a:avLst>
              <a:gd name="adj" fmla="val 6400"/>
            </a:avLst>
          </a:prstGeom>
          <a:solidFill>
            <a:srgbClr val="222A38"/>
          </a:solidFill>
          <a:ln w="12700">
            <a:solidFill>
              <a:srgbClr val="222A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2304288"/>
            <a:ext cx="5157216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spark = (SparkSession.builder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.appName("NotasEstudiantes")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.master("local[*]")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.getOrCreate())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34290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local[*] significa "usa todos los núcleos de mi portátil". En producción aquí va la dirección del clúster.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0" y="1737360"/>
            <a:ext cx="402336" cy="402336"/>
          </a:xfrm>
          <a:prstGeom prst="ellipse">
            <a:avLst/>
          </a:prstGeom>
          <a:solidFill>
            <a:srgbClr val="E8622C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1737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949440" y="17373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 los datos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400800" y="2194560"/>
            <a:ext cx="5212080" cy="1143000"/>
          </a:xfrm>
          <a:prstGeom prst="roundRect">
            <a:avLst>
              <a:gd name="adj" fmla="val 6400"/>
            </a:avLst>
          </a:prstGeom>
          <a:solidFill>
            <a:srgbClr val="222A38"/>
          </a:solidFill>
          <a:ln w="12700">
            <a:solidFill>
              <a:srgbClr val="222A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65392" y="2304288"/>
            <a:ext cx="4882896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notas = spark.read.csv(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"notas.csv",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header=True,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inferSchema=True)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0" y="342900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inferSchema adivina los tipos: cómodo para explorar. En producción se declara a mano, porque inferir obliga a leer el archivo dos veces.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251960"/>
            <a:ext cx="402336" cy="402336"/>
          </a:xfrm>
          <a:prstGeom prst="ellipse">
            <a:avLst/>
          </a:prstGeom>
          <a:solidFill>
            <a:srgbClr val="E8622C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2519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97280" y="4251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Limpiar: por grupo, no en global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48640" y="4709160"/>
            <a:ext cx="5486400" cy="1371600"/>
          </a:xfrm>
          <a:prstGeom prst="roundRect">
            <a:avLst>
              <a:gd name="adj" fmla="val 5333"/>
            </a:avLst>
          </a:prstGeom>
          <a:solidFill>
            <a:srgbClr val="222A38"/>
          </a:solidFill>
          <a:ln w="12700">
            <a:solidFill>
              <a:srgbClr val="222A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" y="4818888"/>
            <a:ext cx="515721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 = Window.partitionBy("id_curso")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notas_limpias = (notas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.dropDuplicates(["id_registro"])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.withColumn("nota", F.coalesce(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F.col("nota"), F.avg("nota").over(w))))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0" y="4251960"/>
            <a:ext cx="5212080" cy="1828800"/>
          </a:xfrm>
          <a:prstGeom prst="roundRect">
            <a:avLst>
              <a:gd name="adj" fmla="val 5000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20840" y="44348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720840" y="4736592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C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5.180 filas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C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 notas vacías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235440" y="44348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6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Después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235440" y="4736592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C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5.000 filas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C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valores vacíos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720840" y="5468112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promedia 2.9 e Inglés 4.3: rellenar con el promedio general (3.7) regalaría casi un punto.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6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· PASOS 4 A 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23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Transformar, unir y responder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402336" cy="402336"/>
          </a:xfrm>
          <a:prstGeom prst="ellipse">
            <a:avLst/>
          </a:prstGeom>
          <a:solidFill>
            <a:srgbClr val="E8622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37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17373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columnas derivadas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5486400" cy="1371600"/>
          </a:xfrm>
          <a:prstGeom prst="roundRect">
            <a:avLst>
              <a:gd name="adj" fmla="val 5333"/>
            </a:avLst>
          </a:prstGeom>
          <a:solidFill>
            <a:srgbClr val="222A38"/>
          </a:solidFill>
          <a:ln w="12700">
            <a:solidFill>
              <a:srgbClr val="222A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2304288"/>
            <a:ext cx="515721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6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.withColumn("estado",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F.when(F.col("nota") &gt;= 3.0, "Aprobó")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.otherwise("Reprobó"))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.withColumn("dedicacion",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F.when(F.col("horas") &gt;= 12, "Alta")...)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3657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/ otherwise es el CASE WHEN de SQL.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0" y="1737360"/>
            <a:ext cx="402336" cy="402336"/>
          </a:xfrm>
          <a:prstGeom prst="ellipse">
            <a:avLst/>
          </a:prstGeom>
          <a:solidFill>
            <a:srgbClr val="E8622C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1737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949440" y="17373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Unir con la tabla de cursos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400800" y="2194560"/>
            <a:ext cx="5212080" cy="777240"/>
          </a:xfrm>
          <a:prstGeom prst="roundRect">
            <a:avLst>
              <a:gd name="adj" fmla="val 9412"/>
            </a:avLst>
          </a:prstGeom>
          <a:solidFill>
            <a:srgbClr val="222A38"/>
          </a:solidFill>
          <a:ln w="12700">
            <a:solidFill>
              <a:srgbClr val="222A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65392" y="2304288"/>
            <a:ext cx="488289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6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completo = notas_tr.join(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cursos, on="id_curso", how="left")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400800" y="306324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notas solo traen el id del curso; el nombre y el área están en la otra tabla. Aquí ocurre un shuffle.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133088"/>
            <a:ext cx="402336" cy="402336"/>
          </a:xfrm>
          <a:prstGeom prst="ellipse">
            <a:avLst/>
          </a:prstGeom>
          <a:solidFill>
            <a:srgbClr val="E8622C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1330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97280" y="413308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Agrupar y responder la pregunta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48640" y="4590288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222A38"/>
          </a:solidFill>
          <a:ln w="12700">
            <a:solidFill>
              <a:srgbClr val="222A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" y="4700016"/>
            <a:ext cx="5157216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.groupBy("area", "curso")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.agg(F.avg("nota").alias("promedio"),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F.avg(F.when(estado=="Aprobó",1)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.otherwise(0)) * 100)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0" y="4133088"/>
            <a:ext cx="402336" cy="402336"/>
          </a:xfrm>
          <a:prstGeom prst="ellipse">
            <a:avLst/>
          </a:prstGeom>
          <a:solidFill>
            <a:srgbClr val="E8622C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0" y="41330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49440" y="413308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 el resultado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400800" y="4590288"/>
            <a:ext cx="5212080" cy="777240"/>
          </a:xfrm>
          <a:prstGeom prst="roundRect">
            <a:avLst>
              <a:gd name="adj" fmla="val 9412"/>
            </a:avLst>
          </a:prstGeom>
          <a:solidFill>
            <a:srgbClr val="222A38"/>
          </a:solidFill>
          <a:ln w="12700">
            <a:solidFill>
              <a:srgbClr val="222A3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65392" y="4700016"/>
            <a:ext cx="488289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6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.write.mode("overwrite")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.parquet("salida/resumen")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400800" y="5458968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guarda en Parquet, no en CSV: pesa menos, se lee por columnas y conserva los tipos de dato.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6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· SALIDA REAL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23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resultado: promedio por curso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37360"/>
          <a:ext cx="68580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680960" y="1737360"/>
            <a:ext cx="3931920" cy="1828800"/>
          </a:xfrm>
          <a:prstGeom prst="roundRect">
            <a:avLst>
              <a:gd name="adj" fmla="val 5000"/>
            </a:avLst>
          </a:prstGeom>
          <a:solidFill>
            <a:srgbClr val="1C2331"/>
          </a:solidFill>
          <a:ln w="12700">
            <a:solidFill>
              <a:srgbClr val="1C233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001000" y="196596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48%</a:t>
            </a:r>
            <a:endParaRPr lang="en-US" sz="5000" dirty="0"/>
          </a:p>
        </p:txBody>
      </p:sp>
      <p:sp>
        <p:nvSpPr>
          <p:cNvPr id="7" name="Text 4"/>
          <p:cNvSpPr/>
          <p:nvPr/>
        </p:nvSpPr>
        <p:spPr>
          <a:xfrm>
            <a:off x="8001000" y="274320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C6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aprobación en Cálculo,</a:t>
            </a: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C6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frente a 97% en Inglés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680960" y="3794760"/>
            <a:ext cx="3931920" cy="1874520"/>
          </a:xfrm>
          <a:prstGeom prst="roundRect">
            <a:avLst>
              <a:gd name="adj" fmla="val 4878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01000" y="39776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6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lo mismo en SQL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001000" y="4315968"/>
            <a:ext cx="3383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C23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df.createOrReplaceTempView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C23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("notas")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C23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spark.sql("""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C23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area, AVG(nota)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C23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notas GROUP BY area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C23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""").show()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6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23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Todo Spark en un cuadro</a:t>
            </a:r>
            <a:endParaRPr lang="en-US" sz="3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343400"/>
                <a:gridCol w="434340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qué importa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622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C23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SparkSession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puerta de entrada al motor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3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Siempre es la primera línea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C23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Driver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 script: arma el plan y reparte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3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procesa datos, dirige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C23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trabajador que sí procesa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3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Aquí vive el paralelismo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C23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Partición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Cada pedazo en que se corta el archivo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3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partición = 1 tarea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C23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DataFrame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Tabla distribuida con esquema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3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 con lo que trabajas siempre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C23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Transformación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select, filter, groupBy, join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3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ejecutan: solo anotan el plan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C23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Acción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show, count, write, toPandas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3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Disparan la ejecución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C23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Catalyst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optimizador del plan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3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eso la pereza vale la pena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C23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Shuffle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Mover datos entre executors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3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 más costoso que existe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C23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Parquet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Formato columnar y comprimido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3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estándar del data lake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6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CHULETA PANDAS → SPARK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23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misma operación en los dos</a:t>
            </a:r>
            <a:endParaRPr lang="en-US" sz="32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64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114800"/>
                <a:gridCol w="475488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Quiero...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pandas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64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Spark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622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C23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Leer un CSV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pd.read_csv(f)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33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spark.read.csv(f, header=True)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C23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Primeras filas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df.head()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33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df.show(5)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C23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 los tipos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df.dtypes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33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df.printSchema()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C23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Contar filas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len(df)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33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df.count()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C23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Filtrar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df[df.a &gt; 10]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33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df.filter(F.col("a") &gt; 10)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C23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Columna nueva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df["c"] = df.a * 2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33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df.withColumn("c", F.col("a")*2)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C23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Agrupar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df.groupby("a").sum()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33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df.groupBy("a").agg(F.sum("b"))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C23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df.merge(d2, on="k")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33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df.join(d2, on="k")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C23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Ordenar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df.sort_values("a")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33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df.orderBy("a")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C23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Guardar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df.to_csv(f)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33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df.write.parquet(f)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6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Spark no existen: el índice, .loc, .iloc ni inplace=True.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C23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5394960"/>
            <a:ext cx="2743200" cy="2743200"/>
          </a:xfrm>
          <a:prstGeom prst="ellipse">
            <a:avLst/>
          </a:prstGeom>
          <a:solidFill>
            <a:srgbClr val="E8622C">
              <a:alpha val="14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7772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LLEVARSE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Cuatro ideas y ya sabes Spark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822960" y="2194560"/>
            <a:ext cx="438912" cy="438912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945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21488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 se mueven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846320" y="2148840"/>
            <a:ext cx="6492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fuente al almacén antes de poder analizarse. Eso es ingeniería de datos.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3154680"/>
            <a:ext cx="438912" cy="438912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1546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63040" y="31089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procesan en paralelo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846320" y="3108960"/>
            <a:ext cx="6492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archivo se parte en particiones y varios executors trabajan a la vez.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" y="4114800"/>
            <a:ext cx="438912" cy="438912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1148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63040" y="4069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plan se optimiza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846320" y="4069080"/>
            <a:ext cx="6492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transformaciones solo anotan pasos; las acciones ejecutan el plan ya optimizado.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22960" y="5074920"/>
            <a:ext cx="438912" cy="438912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50749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63040" y="5029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y Spark conviven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846320" y="5029200"/>
            <a:ext cx="6492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para explorar; Spark cuando el dato no cabe en una máquina.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9893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6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¿Preguntas?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Apache Spark con Python</dc:title>
  <dc:subject>PptxGenJS Presentation</dc:subject>
  <dc:creator>Vanessa Fontalvo</dc:creator>
  <cp:lastModifiedBy>Vanessa Fontalvo</cp:lastModifiedBy>
  <cp:revision>1</cp:revision>
  <dcterms:created xsi:type="dcterms:W3CDTF">2026-08-06T02:19:50Z</dcterms:created>
  <dcterms:modified xsi:type="dcterms:W3CDTF">2026-08-06T02:19:50Z</dcterms:modified>
</cp:coreProperties>
</file>